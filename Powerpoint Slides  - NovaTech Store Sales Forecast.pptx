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00" r:id="rId5"/>
    <p:sldId id="308" r:id="rId6"/>
    <p:sldId id="309" r:id="rId7"/>
    <p:sldId id="310" r:id="rId8"/>
    <p:sldId id="311" r:id="rId9"/>
    <p:sldId id="312" r:id="rId10"/>
    <p:sldId id="313" r:id="rId11"/>
    <p:sldId id="320" r:id="rId12"/>
    <p:sldId id="314" r:id="rId13"/>
    <p:sldId id="317" r:id="rId14"/>
    <p:sldId id="323" r:id="rId15"/>
    <p:sldId id="318" r:id="rId16"/>
    <p:sldId id="31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0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23C175-9067-4B67-AE3C-6AF96F1AC6AF}" v="773" dt="2026-03-06T01:12:27.319"/>
    <p1510:client id="{43FFC8FE-69FD-4D8C-B74E-D3DA88F5E3D7}" v="163" dt="2026-03-05T22:31:21.897"/>
    <p1510:client id="{5604622A-5B40-45BC-A059-9F8F6018DC0C}" v="127" dt="2026-03-05T23:00:44.565"/>
    <p1510:client id="{A904C666-5482-46F9-8923-05415A8D2FD0}" v="919" dt="2026-03-05T19:43:00.008"/>
  </p1510:revLst>
</p1510:revInfo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C669D0-F8F9-909F-F36A-221EAC7424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1AC27-49A0-3B4C-5F49-D6641499EF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F45D-55D9-47BA-9640-E7EB1024F60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AD1BD-C6AD-D1DF-596E-659165024C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A659A-33FC-973A-2DD5-89A959CA8C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A2DCA-E9F6-4345-9316-BF42F09A2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691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9C6F8-5F98-E04A-B725-72D1A5FE844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A9608-B288-5444-9C81-49B56A597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7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161BAA5-48F7-7727-F9D9-CE83907F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4ED4F-0011-0734-A8CE-F357C9B3C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3776" y="0"/>
            <a:ext cx="16715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C40BC2-4799-E79D-1CFD-4A82C90A1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693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7662E9-6C4B-1DCF-4FA0-9D0E52069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5232" y="463974"/>
            <a:ext cx="4217424" cy="3709195"/>
          </a:xfrm>
        </p:spPr>
        <p:txBody>
          <a:bodyPr anchor="b">
            <a:normAutofit/>
          </a:bodyPr>
          <a:lstStyle>
            <a:lvl1pPr algn="l">
              <a:defRPr sz="4800" b="1" spc="-15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2C7390-A781-021E-CEDA-D904030438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0158" y="1741488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 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>
            <a:extLst>
              <a:ext uri="{FF2B5EF4-FFF2-40B4-BE49-F238E27FC236}">
                <a16:creationId xmlns:a16="http://schemas.microsoft.com/office/drawing/2014/main" id="{F31C49C2-4E92-6564-1A68-190EFACC5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03C2B3-3873-7FFA-2567-57F2F6ABB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3334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619A50-ADC7-AA30-E96F-D0853D0D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6501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447AC2-F09C-2AC2-0522-F871987D6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140" y="576470"/>
            <a:ext cx="4831209" cy="2266121"/>
          </a:xfrm>
        </p:spPr>
        <p:txBody>
          <a:bodyPr anchor="ctr">
            <a:normAutofit/>
          </a:bodyPr>
          <a:lstStyle>
            <a:lvl1pPr algn="r">
              <a:defRPr sz="4400" b="0" spc="0" baseline="0"/>
            </a:lvl1pPr>
          </a:lstStyle>
          <a:p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C3A4AA6-1D0C-DE79-F399-33299CB812C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7139" y="3031435"/>
            <a:ext cx="4831209" cy="3478944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 algn="r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 algn="r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90039" y="1751216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E58A54-F746-59CF-007A-329493EC50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75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991E4A-E418-E9C0-B35B-0A81DCE3A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1138655 w 12192000"/>
              <a:gd name="connsiteY0" fmla="*/ 1746908 h 6858000"/>
              <a:gd name="connsiteX1" fmla="*/ 913599 w 12192000"/>
              <a:gd name="connsiteY1" fmla="*/ 1971964 h 6858000"/>
              <a:gd name="connsiteX2" fmla="*/ 913599 w 12192000"/>
              <a:gd name="connsiteY2" fmla="*/ 5520711 h 6858000"/>
              <a:gd name="connsiteX3" fmla="*/ 1138655 w 12192000"/>
              <a:gd name="connsiteY3" fmla="*/ 5745767 h 6858000"/>
              <a:gd name="connsiteX4" fmla="*/ 6091846 w 12192000"/>
              <a:gd name="connsiteY4" fmla="*/ 5745767 h 6858000"/>
              <a:gd name="connsiteX5" fmla="*/ 6316902 w 12192000"/>
              <a:gd name="connsiteY5" fmla="*/ 5520711 h 6858000"/>
              <a:gd name="connsiteX6" fmla="*/ 6316902 w 12192000"/>
              <a:gd name="connsiteY6" fmla="*/ 1971964 h 6858000"/>
              <a:gd name="connsiteX7" fmla="*/ 6091846 w 12192000"/>
              <a:gd name="connsiteY7" fmla="*/ 1746908 h 6858000"/>
              <a:gd name="connsiteX8" fmla="*/ 1218461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12184610 w 12192000"/>
              <a:gd name="connsiteY11" fmla="*/ 6858000 h 6858000"/>
              <a:gd name="connsiteX12" fmla="*/ 0 w 12192000"/>
              <a:gd name="connsiteY12" fmla="*/ 0 h 6858000"/>
              <a:gd name="connsiteX13" fmla="*/ 918140 w 12192000"/>
              <a:gd name="connsiteY13" fmla="*/ 0 h 6858000"/>
              <a:gd name="connsiteX14" fmla="*/ 918140 w 12192000"/>
              <a:gd name="connsiteY14" fmla="*/ 1010539 h 6858000"/>
              <a:gd name="connsiteX15" fmla="*/ 1195741 w 12192000"/>
              <a:gd name="connsiteY15" fmla="*/ 1288140 h 6858000"/>
              <a:gd name="connsiteX16" fmla="*/ 6043842 w 12192000"/>
              <a:gd name="connsiteY16" fmla="*/ 1288140 h 6858000"/>
              <a:gd name="connsiteX17" fmla="*/ 6321443 w 12192000"/>
              <a:gd name="connsiteY17" fmla="*/ 1010539 h 6858000"/>
              <a:gd name="connsiteX18" fmla="*/ 6321443 w 12192000"/>
              <a:gd name="connsiteY18" fmla="*/ 0 h 6858000"/>
              <a:gd name="connsiteX19" fmla="*/ 11019692 w 12192000"/>
              <a:gd name="connsiteY19" fmla="*/ 0 h 6858000"/>
              <a:gd name="connsiteX20" fmla="*/ 11019692 w 12192000"/>
              <a:gd name="connsiteY20" fmla="*/ 6858000 h 6858000"/>
              <a:gd name="connsiteX21" fmla="*/ 6283982 w 12192000"/>
              <a:gd name="connsiteY21" fmla="*/ 6858000 h 6858000"/>
              <a:gd name="connsiteX22" fmla="*/ 6283982 w 12192000"/>
              <a:gd name="connsiteY22" fmla="*/ 6429590 h 6858000"/>
              <a:gd name="connsiteX23" fmla="*/ 6058926 w 12192000"/>
              <a:gd name="connsiteY23" fmla="*/ 6204534 h 6858000"/>
              <a:gd name="connsiteX24" fmla="*/ 1105735 w 12192000"/>
              <a:gd name="connsiteY24" fmla="*/ 6204534 h 6858000"/>
              <a:gd name="connsiteX25" fmla="*/ 880679 w 12192000"/>
              <a:gd name="connsiteY25" fmla="*/ 6429590 h 6858000"/>
              <a:gd name="connsiteX26" fmla="*/ 880679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close/>
                <a:moveTo>
                  <a:pt x="1218461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84610" y="6858000"/>
                </a:lnTo>
                <a:close/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1019692" y="0"/>
                </a:lnTo>
                <a:lnTo>
                  <a:pt x="11019692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315A23-2C00-4A7E-B9E9-65CF734EE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068700" y="1116391"/>
            <a:ext cx="4120055" cy="4308449"/>
            <a:chOff x="5656746" y="820557"/>
            <a:chExt cx="4120055" cy="4308449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FF8075D-03CC-DDD4-332C-F26F61AF7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E03B7A5-6E3E-5DC1-6705-A3B82F408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480627"/>
            <a:ext cx="4505155" cy="2894495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541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</a:t>
            </a:r>
          </a:p>
          <a:p>
            <a:endParaRPr lang="en-US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1313" y="3505200"/>
            <a:ext cx="4029859" cy="300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2A9BE-2A46-4899-C38E-B513CC1AF11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59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9EF1CCA-35D0-41F4-BC3D-AA1679C3E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76514" y="397442"/>
            <a:ext cx="9619886" cy="6623279"/>
            <a:chOff x="1276514" y="397442"/>
            <a:chExt cx="9619886" cy="662327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39112C6-05E1-7A58-F9B3-4ED607F0FEB5}"/>
                </a:ext>
              </a:extLst>
            </p:cNvPr>
            <p:cNvGrpSpPr/>
            <p:nvPr userDrawn="1"/>
          </p:nvGrpSpPr>
          <p:grpSpPr>
            <a:xfrm>
              <a:off x="1276514" y="397442"/>
              <a:ext cx="3028206" cy="3166674"/>
              <a:chOff x="5656746" y="820557"/>
              <a:chExt cx="4120055" cy="4308449"/>
            </a:xfrm>
          </p:grpSpPr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580B3039-6990-1E35-87E4-6C581CF7BA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37F0331D-9A8D-485F-9469-6B31E3D61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1BCBEDD-D6D8-B22D-46D2-C061FBDFE326}"/>
                </a:ext>
              </a:extLst>
            </p:cNvPr>
            <p:cNvGrpSpPr/>
            <p:nvPr userDrawn="1"/>
          </p:nvGrpSpPr>
          <p:grpSpPr>
            <a:xfrm>
              <a:off x="6776345" y="2712272"/>
              <a:ext cx="4120055" cy="4308449"/>
              <a:chOff x="5656746" y="820557"/>
              <a:chExt cx="4120055" cy="4308449"/>
            </a:xfrm>
          </p:grpSpPr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43D2104B-238A-6958-53E9-4C3CFC4C99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FE1FCD13-2E12-4019-9FCB-3A53D17321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CEA9FD7-5B24-27A7-2BB5-A937B6A4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938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3731B0-8EE6-11A7-D5EB-431792C48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2568" y="0"/>
            <a:ext cx="210812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8745" y="507244"/>
            <a:ext cx="9143999" cy="2162065"/>
          </a:xfrm>
        </p:spPr>
        <p:txBody>
          <a:bodyPr anchor="b">
            <a:normAutofit/>
          </a:bodyPr>
          <a:lstStyle>
            <a:lvl1pPr algn="l">
              <a:defRPr sz="4800" b="1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52700" y="3586281"/>
            <a:ext cx="7086600" cy="22860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AEB78-507E-76A4-533C-B685FBB9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15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8A07D-9CD9-61E7-5307-509E256E3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19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D3D556-F10A-EC7C-0757-E00C6BD11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55612" y="0"/>
            <a:ext cx="39699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434F37-A346-4DC3-ACA1-FE0B5DD0A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405264" y="1517829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CD6BFE6-65DF-2EFD-2AB8-EF54AE6ED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72A018D-5452-637A-6EFC-8A1C55CE0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3AED969-CB3F-45E5-4B56-8D4841A04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53444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7523" y="750316"/>
            <a:ext cx="5469591" cy="2066052"/>
          </a:xfrm>
        </p:spPr>
        <p:txBody>
          <a:bodyPr anchor="ctr">
            <a:normAutofit/>
          </a:bodyPr>
          <a:lstStyle>
            <a:lvl1pPr algn="l">
              <a:defRPr sz="4400" b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F3BAA8E-44E6-12B3-F690-09AB8C245E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97703" y="2884989"/>
            <a:ext cx="4768850" cy="36253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A042FB-AE91-12A6-1B9A-55AE16FB53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97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FA63973E-7BCA-0A84-9988-670F7B31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28" y="1925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9F5EDC-2D5E-96A7-AAB9-D60B6E1AF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6699" y="3527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424DE0-155D-2A3C-788A-5A0C0D9CD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6728" y="275768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87C557-55D3-F920-773C-DDD1348C4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2673" y="2714197"/>
            <a:ext cx="4120055" cy="4308449"/>
            <a:chOff x="5656746" y="820557"/>
            <a:chExt cx="4120055" cy="4308449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BC0724F-AE42-0E0F-E392-0C3EBB9DD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B6F6A44-F108-5B62-1638-5680B0204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0667" y="405113"/>
            <a:ext cx="4505155" cy="6007261"/>
          </a:xfrm>
        </p:spPr>
        <p:txBody>
          <a:bodyPr anchor="ctr">
            <a:normAutofit/>
          </a:bodyPr>
          <a:lstStyle>
            <a:lvl1pPr algn="r">
              <a:defRPr sz="4800" b="1" spc="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83A8F0F5-EBCC-860A-B0EE-A7F56BA39A4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76079" y="1748992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</a:t>
            </a:r>
          </a:p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0224B-09BE-F95F-F2DE-0EA9731AEB8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64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D13AA8-D23C-5C6A-33DF-C454CDF89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930" y="347620"/>
            <a:ext cx="5163939" cy="2474204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endParaRPr lang="en-US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0017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</a:t>
            </a:r>
          </a:p>
          <a:p>
            <a:endParaRPr lang="en-US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99930" y="2961187"/>
            <a:ext cx="5163939" cy="334673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/>
            </a:lvl1pPr>
            <a:lvl2pPr marL="8001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 marL="12001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3pPr>
            <a:lvl4pPr marL="16573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4pPr>
            <a:lvl5pPr marL="21145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AD0209-DE4E-6825-8F20-EC9CF7FA6A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08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1F6D51D-5B15-9B30-DC19-5F58B3052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7577" y="3429000"/>
            <a:ext cx="3288931" cy="3439321"/>
            <a:chOff x="5656746" y="820557"/>
            <a:chExt cx="4120055" cy="4308449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480DA77-F71B-5298-1353-A41A3B4DA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0839BC8-89BD-1554-5D44-CDDBE6CA9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16545-2BDC-F9A0-F675-174EDC926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36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68970B-8B94-3775-274C-FB844115E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2942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972257-517A-A49E-FA85-ED69B1A6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68288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247067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34851" y="1825625"/>
            <a:ext cx="4247067" cy="435133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4AC65-CD3D-69D7-24FB-C82AA429A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D04544E-40BA-0EF3-1D11-F15C7E80D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356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06BFA7-94AE-3A18-523D-C688ECFB4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78414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786F04-54BF-9AA6-0B44-DE78BB380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85177" y="2407472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A2FB764-6719-6FC4-D31C-F96BBA0A6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87175FD-8DE3-7754-36A9-07FEE388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3" y="1825625"/>
            <a:ext cx="3525772" cy="4351338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149516" y="1733025"/>
            <a:ext cx="6204283" cy="398938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DBFC337-301C-C3ED-321C-AB4EF4A108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3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9B0186-5603-6346-34F2-6BFA71BC6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14738" y="2425699"/>
            <a:ext cx="3288931" cy="3439321"/>
            <a:chOff x="5656746" y="820557"/>
            <a:chExt cx="4120055" cy="4308449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6A59AE-96E4-A701-461B-61618472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8649D3D-45B7-44C7-93B4-BDC88C328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349E-C488-C02B-B3B1-CCDBD3A78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77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2520" y="1825625"/>
            <a:ext cx="4825294" cy="4651375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 marL="457200" indent="0">
              <a:spcAft>
                <a:spcPts val="800"/>
              </a:spcAft>
              <a:buNone/>
              <a:defRPr sz="2000"/>
            </a:lvl2pPr>
            <a:lvl3pPr marL="914400" indent="0">
              <a:spcAft>
                <a:spcPts val="800"/>
              </a:spcAft>
              <a:buNone/>
              <a:defRPr sz="2000"/>
            </a:lvl3pPr>
            <a:lvl4pPr marL="1371600" indent="0">
              <a:spcAft>
                <a:spcPts val="800"/>
              </a:spcAft>
              <a:buNone/>
              <a:defRPr sz="2000"/>
            </a:lvl4pPr>
            <a:lvl5pPr marL="1828800" indent="0">
              <a:spcAft>
                <a:spcPts val="800"/>
              </a:spcAft>
              <a:buNone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96778" y="1813720"/>
            <a:ext cx="4657021" cy="4051300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004FE-7725-F349-1245-F443F9E81B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76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F97B6B-1E04-799C-CDFE-9DAFCA93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28970" y="13063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1DE0A-4C1D-01B1-AA49-D966343F6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77288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BEA20E-0FF2-2897-8BD6-8EFAA8C8D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78460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E259F776-4BD1-2F21-61F0-3B60DF6F036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25625"/>
            <a:ext cx="10515600" cy="405447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table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987B8-BA6E-EE2B-BFB9-D52D6D956A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869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4A07D69-1AF2-A193-316E-DD3803E94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520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4D2FA-0049-1792-F6B4-D5FE1EE5A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2348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E6ACF-3879-BE02-100B-2096C2235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323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74699B-D6F0-303E-200A-7017E1842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06739" y="2603777"/>
            <a:ext cx="4120055" cy="4308449"/>
            <a:chOff x="5656746" y="820557"/>
            <a:chExt cx="4120055" cy="4308449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9C9E38E0-92AE-5063-B259-A22230AA6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260EEF0-1C13-AD9A-0967-0460B979E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FE848A-1123-37B6-C43C-5DC49EE0A1D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412173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FB0C591-7E28-3722-4795-07BFB9ED09C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51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312039-7E28-974D-ED1C-90F1E53E9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382344"/>
            <a:ext cx="4377767" cy="2719337"/>
          </a:xfrm>
        </p:spPr>
        <p:txBody>
          <a:bodyPr anchor="b">
            <a:normAutofit/>
          </a:bodyPr>
          <a:lstStyle>
            <a:lvl1pPr algn="l">
              <a:defRPr sz="4400" b="1" spc="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1745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 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9992" y="3340800"/>
            <a:ext cx="4368450" cy="316633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/>
            </a:lvl1pPr>
            <a:lvl2pPr marL="57150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/>
            </a:lvl2pPr>
            <a:lvl3pPr marL="9715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3pPr>
            <a:lvl4pPr marL="14287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4pPr>
            <a:lvl5pPr marL="18859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2793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4CE42-5F4D-E722-7ABC-852575A3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FCB7E-A25D-2786-57F4-CAC8C0B7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8020-3841-3809-A971-C013AF1C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6D726-924C-E5EB-B28C-E3B9B446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79A287-35CA-B289-525D-D67FB24B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B2365-305E-AE99-1CD4-605540C7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187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1452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2000" y="6145255"/>
            <a:ext cx="8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AFD02D-325A-F2A8-9A62-D6D0AF069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52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6" r:id="rId3"/>
    <p:sldLayoutId id="2147483663" r:id="rId4"/>
    <p:sldLayoutId id="2147483667" r:id="rId5"/>
    <p:sldLayoutId id="2147483668" r:id="rId6"/>
    <p:sldLayoutId id="2147483669" r:id="rId7"/>
    <p:sldLayoutId id="2147483650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54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5" Type="http://schemas.microsoft.com/office/2007/relationships/hdphoto" Target="../media/hdphoto2.wdp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5232" y="1312238"/>
            <a:ext cx="4433084" cy="3709195"/>
          </a:xfrm>
        </p:spPr>
        <p:txBody>
          <a:bodyPr anchor="b">
            <a:normAutofit fontScale="90000"/>
          </a:bodyPr>
          <a:lstStyle/>
          <a:p>
            <a:r>
              <a:rPr lang="en-US"/>
              <a:t>Optimizing Inventory with Data</a:t>
            </a:r>
            <a:br>
              <a:rPr lang="en-US">
                <a:cs typeface="Arial"/>
              </a:rPr>
            </a:br>
            <a:br>
              <a:rPr lang="en-US">
                <a:cs typeface="Arial"/>
              </a:rPr>
            </a:br>
            <a:r>
              <a:rPr lang="en-US" sz="4000">
                <a:cs typeface="Arial"/>
              </a:rPr>
              <a:t>Forecasting Analysis</a:t>
            </a:r>
            <a:br>
              <a:rPr lang="en-US">
                <a:cs typeface="Arial"/>
              </a:rPr>
            </a:br>
            <a:endParaRPr lang="en-US" sz="900">
              <a:cs typeface="Arial"/>
            </a:endParaRPr>
          </a:p>
        </p:txBody>
      </p:sp>
      <p:pic>
        <p:nvPicPr>
          <p:cNvPr id="14" name="Picture Placeholder 13" descr="A sign on a building&#10;&#10;AI-generated content may be incorrect.">
            <a:extLst>
              <a:ext uri="{FF2B5EF4-FFF2-40B4-BE49-F238E27FC236}">
                <a16:creationId xmlns:a16="http://schemas.microsoft.com/office/drawing/2014/main" id="{2048BD92-647F-33AD-A0B3-2AB2D7BE464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6300" r="16300"/>
          <a:stretch/>
        </p:blipFill>
        <p:spPr>
          <a:xfrm>
            <a:off x="1107063" y="1612092"/>
            <a:ext cx="5394960" cy="3997325"/>
          </a:xfrm>
        </p:spPr>
      </p:pic>
    </p:spTree>
    <p:extLst>
      <p:ext uri="{BB962C8B-B14F-4D97-AF65-F5344CB8AC3E}">
        <p14:creationId xmlns:p14="http://schemas.microsoft.com/office/powerpoint/2010/main" val="4186662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A4A7895-3FBB-9134-6284-4A5950F5B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140" y="217037"/>
            <a:ext cx="4831209" cy="1906687"/>
          </a:xfrm>
        </p:spPr>
        <p:txBody>
          <a:bodyPr>
            <a:normAutofit/>
          </a:bodyPr>
          <a:lstStyle/>
          <a:p>
            <a:r>
              <a:rPr lang="en-US" sz="6000"/>
              <a:t>Agenda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9F04B66-5C68-5FD6-773C-3016CF0ACC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44157" y="1967512"/>
            <a:ext cx="4356757" cy="455724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b="1">
                <a:cs typeface="Arial"/>
              </a:rPr>
              <a:t>Objective:</a:t>
            </a:r>
            <a:r>
              <a:rPr lang="en-US">
                <a:cs typeface="Arial"/>
              </a:rPr>
              <a:t> To identify the most accurate forecasting model for </a:t>
            </a:r>
            <a:r>
              <a:rPr lang="en-US" err="1">
                <a:cs typeface="Arial"/>
              </a:rPr>
              <a:t>NovaTech's</a:t>
            </a:r>
            <a:r>
              <a:rPr lang="en-US">
                <a:cs typeface="Arial"/>
              </a:rPr>
              <a:t> sales data.  </a:t>
            </a:r>
          </a:p>
          <a:p>
            <a:pPr algn="l"/>
            <a:endParaRPr lang="en-US">
              <a:cs typeface="Arial"/>
            </a:endParaRPr>
          </a:p>
          <a:p>
            <a:pPr algn="l"/>
            <a:r>
              <a:rPr lang="en-US" b="1">
                <a:cs typeface="Arial"/>
              </a:rPr>
              <a:t>Methodology:</a:t>
            </a:r>
            <a:r>
              <a:rPr lang="en-US">
                <a:cs typeface="Arial"/>
              </a:rPr>
              <a:t> Comparison of five forecasting models using one year sales data.</a:t>
            </a:r>
          </a:p>
          <a:p>
            <a:pPr algn="l"/>
            <a:endParaRPr lang="en-US">
              <a:cs typeface="Arial"/>
            </a:endParaRPr>
          </a:p>
          <a:p>
            <a:pPr algn="l"/>
            <a:r>
              <a:rPr lang="en-US" b="1">
                <a:cs typeface="Arial"/>
              </a:rPr>
              <a:t>Focus: </a:t>
            </a:r>
            <a:r>
              <a:rPr lang="en-US">
                <a:cs typeface="Arial"/>
              </a:rPr>
              <a:t>Analyzing data at two different intervals (Daily vs Monthly) to see which model fits best.</a:t>
            </a:r>
          </a:p>
          <a:p>
            <a:endParaRPr lang="en-US">
              <a:cs typeface="Arial"/>
            </a:endParaRPr>
          </a:p>
          <a:p>
            <a:endParaRPr lang="en-US">
              <a:cs typeface="Arial"/>
            </a:endParaRPr>
          </a:p>
        </p:txBody>
      </p:sp>
      <p:pic>
        <p:nvPicPr>
          <p:cNvPr id="6" name="Picture Placeholder 5" descr="A computer on a table&#10;&#10;AI-generated content may be incorrect.">
            <a:extLst>
              <a:ext uri="{FF2B5EF4-FFF2-40B4-BE49-F238E27FC236}">
                <a16:creationId xmlns:a16="http://schemas.microsoft.com/office/drawing/2014/main" id="{2616A6F2-B984-727A-D9F9-66A23002551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604" b="604"/>
          <a:stretch/>
        </p:blipFill>
        <p:spPr>
          <a:xfrm>
            <a:off x="5890039" y="1751216"/>
            <a:ext cx="5394960" cy="3997325"/>
          </a:xfr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1F36102-91E3-B5B6-05D2-563D2642C9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403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AF5A1F-B233-C75A-B7DC-066E53119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0675" y="480627"/>
            <a:ext cx="4505155" cy="289449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About </a:t>
            </a:r>
            <a:r>
              <a:rPr lang="en-US" sz="4000" err="1"/>
              <a:t>NovaTech</a:t>
            </a:r>
            <a:r>
              <a:rPr lang="en-US" sz="4000"/>
              <a:t> Store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B660493-A854-C062-6ED2-02A7EEC4FC1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2041" r="12041"/>
          <a:stretch/>
        </p:blipFill>
        <p:spPr>
          <a:xfrm>
            <a:off x="915410" y="1751759"/>
            <a:ext cx="5394960" cy="3997325"/>
          </a:xfr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09B322C-92BF-3972-EB9C-80C69BC2D9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021313" y="3433314"/>
            <a:ext cx="4719972" cy="30882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err="1">
                <a:cs typeface="Arial"/>
              </a:rPr>
              <a:t>NovaTech</a:t>
            </a:r>
            <a:r>
              <a:rPr lang="en-US">
                <a:cs typeface="Arial"/>
              </a:rPr>
              <a:t> Store is a reputable retailer specializing in Lenovo Pcs (high-performance workstations and laptops).</a:t>
            </a:r>
            <a:endParaRPr lang="en-US"/>
          </a:p>
          <a:p>
            <a:endParaRPr lang="en-US"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0F67C-5190-34BB-E17A-1733452721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624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AFF48-132C-6DAA-622E-E58AF3A8D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8745" y="507244"/>
            <a:ext cx="9143999" cy="2162065"/>
          </a:xfrm>
        </p:spPr>
        <p:txBody>
          <a:bodyPr/>
          <a:lstStyle/>
          <a:p>
            <a:r>
              <a:rPr lang="en-US"/>
              <a:t>Goal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7C2841-47C6-02F9-83CF-508A0ADF0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2700" y="3586281"/>
            <a:ext cx="7086600" cy="2286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Explore various forecasting techniques and provide the management with the best recommendation.</a:t>
            </a:r>
            <a:endParaRPr lang="en-US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C4D93-CBC8-E70B-5147-AEC324F7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446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739A0-AB25-231D-F1BE-533B41CCC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9673" y="563411"/>
            <a:ext cx="7597440" cy="1462204"/>
          </a:xfrm>
        </p:spPr>
        <p:txBody>
          <a:bodyPr/>
          <a:lstStyle/>
          <a:p>
            <a:r>
              <a:rPr lang="en-US"/>
              <a:t>Which models did we Test?</a:t>
            </a:r>
            <a:endParaRPr lang="en-US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4B449-06A6-DA15-9625-E5279E21ED2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938268" y="1907330"/>
            <a:ext cx="5214550" cy="46174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Naïve Forecast:</a:t>
            </a:r>
            <a:r>
              <a:rPr lang="en-US" dirty="0"/>
              <a:t> Assumes the next period is equal to the last.</a:t>
            </a:r>
          </a:p>
          <a:p>
            <a:r>
              <a:rPr lang="en-US" b="1" dirty="0"/>
              <a:t>Moving Average:</a:t>
            </a:r>
            <a:r>
              <a:rPr lang="en-US" dirty="0"/>
              <a:t> smooths recent data, 2 days for daily and 2 months for monthly.</a:t>
            </a:r>
            <a:endParaRPr lang="en-US" dirty="0">
              <a:cs typeface="Arial"/>
            </a:endParaRPr>
          </a:p>
          <a:p>
            <a:r>
              <a:rPr lang="en-US" b="1" dirty="0"/>
              <a:t>Exponential Smoothing</a:t>
            </a:r>
            <a:endParaRPr lang="en-US" b="1" dirty="0">
              <a:cs typeface="Arial"/>
            </a:endParaRPr>
          </a:p>
          <a:p>
            <a:r>
              <a:rPr lang="en-US" b="1" dirty="0">
                <a:cs typeface="Arial"/>
              </a:rPr>
              <a:t>Linear Forecast (Trend): </a:t>
            </a:r>
            <a:r>
              <a:rPr lang="en-US" dirty="0">
                <a:cs typeface="Arial"/>
              </a:rPr>
              <a:t>identifies long term direction.</a:t>
            </a:r>
          </a:p>
          <a:p>
            <a:r>
              <a:rPr lang="en-US" b="1" dirty="0">
                <a:cs typeface="Arial"/>
              </a:rPr>
              <a:t>SLR with Seasonality: </a:t>
            </a:r>
            <a:r>
              <a:rPr lang="en-US" dirty="0">
                <a:cs typeface="Arial"/>
              </a:rPr>
              <a:t>Accounts for repeating patterns.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62A93-B05D-F902-E82F-647AA5B895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 descr="A line drawing of a graph&#10;&#10;AI-generated content may be incorrect.">
            <a:extLst>
              <a:ext uri="{FF2B5EF4-FFF2-40B4-BE49-F238E27FC236}">
                <a16:creationId xmlns:a16="http://schemas.microsoft.com/office/drawing/2014/main" id="{61091115-D849-9824-E71D-D89A1B335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944" y="2027207"/>
            <a:ext cx="575095" cy="416944"/>
          </a:xfrm>
          <a:prstGeom prst="rect">
            <a:avLst/>
          </a:prstGeom>
        </p:spPr>
      </p:pic>
      <p:pic>
        <p:nvPicPr>
          <p:cNvPr id="6" name="Picture 5" descr="A line drawing of a graph&#10;&#10;AI-generated content may be incorrect.">
            <a:extLst>
              <a:ext uri="{FF2B5EF4-FFF2-40B4-BE49-F238E27FC236}">
                <a16:creationId xmlns:a16="http://schemas.microsoft.com/office/drawing/2014/main" id="{1DA5184F-4B4C-7990-DD7B-54028D3AD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943" y="4011284"/>
            <a:ext cx="560718" cy="416944"/>
          </a:xfrm>
          <a:prstGeom prst="rect">
            <a:avLst/>
          </a:prstGeom>
        </p:spPr>
      </p:pic>
      <p:pic>
        <p:nvPicPr>
          <p:cNvPr id="7" name="Picture 6" descr="A graph with a arrow pointing up&#10;&#10;AI-generated content may be incorrect.">
            <a:extLst>
              <a:ext uri="{FF2B5EF4-FFF2-40B4-BE49-F238E27FC236}">
                <a16:creationId xmlns:a16="http://schemas.microsoft.com/office/drawing/2014/main" id="{2D7C7772-5A66-F4B6-2144-7B1320910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708" y="2843482"/>
            <a:ext cx="567188" cy="423414"/>
          </a:xfrm>
          <a:prstGeom prst="rect">
            <a:avLst/>
          </a:prstGeom>
        </p:spPr>
      </p:pic>
      <p:pic>
        <p:nvPicPr>
          <p:cNvPr id="8" name="Picture 7" descr="A line drawing of a graph and a light bulb&#10;&#10;AI-generated content may be incorrect.">
            <a:extLst>
              <a:ext uri="{FF2B5EF4-FFF2-40B4-BE49-F238E27FC236}">
                <a16:creationId xmlns:a16="http://schemas.microsoft.com/office/drawing/2014/main" id="{B0BB364E-2352-B697-EEA4-8AC95A975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9494" y="4629060"/>
            <a:ext cx="561618" cy="417845"/>
          </a:xfrm>
          <a:prstGeom prst="rect">
            <a:avLst/>
          </a:prstGeom>
        </p:spPr>
      </p:pic>
      <p:pic>
        <p:nvPicPr>
          <p:cNvPr id="9" name="Picture 8" descr="A graph with a arrow pointing up&#10;&#10;AI-generated content may be incorrect.">
            <a:extLst>
              <a:ext uri="{FF2B5EF4-FFF2-40B4-BE49-F238E27FC236}">
                <a16:creationId xmlns:a16="http://schemas.microsoft.com/office/drawing/2014/main" id="{6549062E-9BDA-A177-81F1-4EF39C87A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708" y="5373897"/>
            <a:ext cx="567188" cy="42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95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1B9F9E-EC8A-09BD-BA33-8D977519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667" y="405113"/>
            <a:ext cx="4505155" cy="6007261"/>
          </a:xfrm>
        </p:spPr>
        <p:txBody>
          <a:bodyPr/>
          <a:lstStyle/>
          <a:p>
            <a:r>
              <a:rPr lang="en-US"/>
              <a:t>Key </a:t>
            </a:r>
            <a:br>
              <a:rPr lang="en-US"/>
            </a:br>
            <a:r>
              <a:rPr lang="en-US"/>
              <a:t>Findings</a:t>
            </a:r>
          </a:p>
        </p:txBody>
      </p:sp>
      <p:pic>
        <p:nvPicPr>
          <p:cNvPr id="5" name="Picture Placeholder 4" descr="A person looking at a red person&#10;&#10;AI-generated content may be incorrect.">
            <a:extLst>
              <a:ext uri="{FF2B5EF4-FFF2-40B4-BE49-F238E27FC236}">
                <a16:creationId xmlns:a16="http://schemas.microsoft.com/office/drawing/2014/main" id="{908CD24D-C0C6-B502-7021-059C9800BBB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086" r="2086"/>
          <a:stretch/>
        </p:blipFill>
        <p:spPr>
          <a:xfrm>
            <a:off x="5876079" y="1748992"/>
            <a:ext cx="5394960" cy="3997325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B617AD-09E2-07D1-0572-86BE7139B99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21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DA9D2C-79E5-25CF-E4A6-2AA9C1BE8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930" y="347620"/>
            <a:ext cx="5163939" cy="2474204"/>
          </a:xfrm>
        </p:spPr>
        <p:txBody>
          <a:bodyPr/>
          <a:lstStyle/>
          <a:p>
            <a:r>
              <a:rPr lang="en-US"/>
              <a:t>Daily Sales:   </a:t>
            </a:r>
            <a:r>
              <a:rPr lang="en-US" sz="4000"/>
              <a:t>SLR with Seasonality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887FC-D1FD-80FF-11CA-504D9B1DB9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99930" y="2961187"/>
            <a:ext cx="5163939" cy="33467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Naïve: 82.5%</a:t>
            </a:r>
          </a:p>
          <a:p>
            <a:r>
              <a:rPr lang="en-US"/>
              <a:t>Moving average: 84%</a:t>
            </a:r>
            <a:endParaRPr lang="en-US">
              <a:cs typeface="Arial"/>
            </a:endParaRPr>
          </a:p>
          <a:p>
            <a:r>
              <a:rPr lang="en-US">
                <a:cs typeface="Arial"/>
              </a:rPr>
              <a:t>Exponential: 84.3%</a:t>
            </a:r>
            <a:endParaRPr lang="en-US"/>
          </a:p>
          <a:p>
            <a:r>
              <a:rPr lang="en-US">
                <a:cs typeface="Arial"/>
              </a:rPr>
              <a:t>Linear: 85.5%</a:t>
            </a:r>
          </a:p>
          <a:p>
            <a:r>
              <a:rPr lang="en-US" b="1"/>
              <a:t>SLR with seasonality: 86.2% (Best)</a:t>
            </a:r>
            <a:endParaRPr lang="en-US" b="1">
              <a:cs typeface="Arial"/>
            </a:endParaRPr>
          </a:p>
          <a:p>
            <a:pPr marL="0" indent="0">
              <a:buNone/>
            </a:pPr>
            <a:endParaRPr lang="en-US">
              <a:cs typeface="Arial"/>
            </a:endParaRPr>
          </a:p>
        </p:txBody>
      </p:sp>
      <p:pic>
        <p:nvPicPr>
          <p:cNvPr id="6" name="Picture Placeholder 5" descr="A graph of a comparison of forecast models&#10;&#10;AI-generated content may be incorrect.">
            <a:extLst>
              <a:ext uri="{FF2B5EF4-FFF2-40B4-BE49-F238E27FC236}">
                <a16:creationId xmlns:a16="http://schemas.microsoft.com/office/drawing/2014/main" id="{5326D26B-3D67-152D-1D62-B066AE80932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4548" b="4548"/>
          <a:stretch/>
        </p:blipFill>
        <p:spPr>
          <a:xfrm>
            <a:off x="511981" y="1723004"/>
            <a:ext cx="5898169" cy="4054835"/>
          </a:xfr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62F5D22-6C73-5967-E35C-917445CF13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08CAF060-5998-0639-EEBF-5F0665BBAEC4}"/>
              </a:ext>
            </a:extLst>
          </p:cNvPr>
          <p:cNvSpPr/>
          <p:nvPr/>
        </p:nvSpPr>
        <p:spPr>
          <a:xfrm>
            <a:off x="9653821" y="1707742"/>
            <a:ext cx="396240" cy="411480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33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A4E97-FF09-2EF2-CC75-C92E542E8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276814-0C98-4648-B0F0-0EB480E08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930" y="347620"/>
            <a:ext cx="5163939" cy="2474204"/>
          </a:xfrm>
        </p:spPr>
        <p:txBody>
          <a:bodyPr/>
          <a:lstStyle/>
          <a:p>
            <a:r>
              <a:rPr lang="en-US"/>
              <a:t>Monthly Sales: </a:t>
            </a:r>
            <a:br>
              <a:rPr lang="en-US">
                <a:cs typeface="Arial"/>
              </a:rPr>
            </a:br>
            <a:r>
              <a:rPr lang="en-US"/>
              <a:t>   Linear (Trend)</a:t>
            </a:r>
            <a:endParaRPr lang="en-US" sz="4000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0D15E-B7FF-84F5-E1A6-AFBD0261F2E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99930" y="2961187"/>
            <a:ext cx="5163939" cy="33467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Naïve: 96.2%</a:t>
            </a:r>
          </a:p>
          <a:p>
            <a:r>
              <a:rPr lang="en-US"/>
              <a:t>Moving average: 96.3%</a:t>
            </a:r>
            <a:endParaRPr lang="en-US">
              <a:cs typeface="Arial"/>
            </a:endParaRPr>
          </a:p>
          <a:p>
            <a:r>
              <a:rPr lang="en-US">
                <a:cs typeface="Arial"/>
              </a:rPr>
              <a:t>Exponential: 96.2%</a:t>
            </a:r>
            <a:endParaRPr lang="en-US"/>
          </a:p>
          <a:p>
            <a:r>
              <a:rPr lang="en-US" b="1">
                <a:cs typeface="Arial"/>
              </a:rPr>
              <a:t>Linear: 96.7% </a:t>
            </a:r>
            <a:r>
              <a:rPr lang="en-US">
                <a:cs typeface="Arial"/>
              </a:rPr>
              <a:t>(</a:t>
            </a:r>
            <a:r>
              <a:rPr lang="en-US" b="1">
                <a:cs typeface="Arial"/>
              </a:rPr>
              <a:t>Best</a:t>
            </a:r>
            <a:r>
              <a:rPr lang="en-US">
                <a:cs typeface="Arial"/>
              </a:rPr>
              <a:t>)</a:t>
            </a:r>
          </a:p>
          <a:p>
            <a:r>
              <a:rPr lang="en-US"/>
              <a:t>SLR with seasonality: 95.3% </a:t>
            </a:r>
            <a:endParaRPr lang="en-US">
              <a:cs typeface="Arial"/>
            </a:endParaRPr>
          </a:p>
          <a:p>
            <a:pPr marL="0" indent="0">
              <a:buNone/>
            </a:pPr>
            <a:endParaRPr lang="en-US">
              <a:cs typeface="Arial"/>
            </a:endParaRPr>
          </a:p>
        </p:txBody>
      </p:sp>
      <p:pic>
        <p:nvPicPr>
          <p:cNvPr id="6" name="Picture Placeholder 5" descr="A graph of a comparison of forecast models&#10;&#10;AI-generated content may be incorrect.">
            <a:extLst>
              <a:ext uri="{FF2B5EF4-FFF2-40B4-BE49-F238E27FC236}">
                <a16:creationId xmlns:a16="http://schemas.microsoft.com/office/drawing/2014/main" id="{A13C7BBA-0702-EAAC-7B97-04CCA2F909C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4422" b="4422"/>
          <a:stretch/>
        </p:blipFill>
        <p:spPr>
          <a:xfrm>
            <a:off x="511981" y="1723004"/>
            <a:ext cx="5898169" cy="4054835"/>
          </a:xfr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6CD5C02-A2B2-0111-AD09-C2B2CF678DF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715092D2-380D-B04C-0A63-6C2A1326201B}"/>
              </a:ext>
            </a:extLst>
          </p:cNvPr>
          <p:cNvSpPr/>
          <p:nvPr/>
        </p:nvSpPr>
        <p:spPr>
          <a:xfrm>
            <a:off x="6692085" y="2210950"/>
            <a:ext cx="396240" cy="411480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56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E6599B-92EE-DA04-9056-C282E455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/>
          <a:p>
            <a:r>
              <a:rPr lang="en-US">
                <a:cs typeface="Arial"/>
              </a:rPr>
              <a:t>Why the Difference?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93533C-26FD-AEBE-6ACB-A4F973ACA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852" y="3292115"/>
            <a:ext cx="4247067" cy="28560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b="1">
                <a:cs typeface="Arial"/>
              </a:rPr>
              <a:t>Monthly:</a:t>
            </a:r>
          </a:p>
          <a:p>
            <a:r>
              <a:rPr lang="en-US">
                <a:cs typeface="Arial"/>
              </a:rPr>
              <a:t>The patterns show growth or decline</a:t>
            </a:r>
          </a:p>
          <a:p>
            <a:r>
              <a:rPr lang="en-US">
                <a:solidFill>
                  <a:srgbClr val="FFFFFF"/>
                </a:solidFill>
                <a:cs typeface="Arial"/>
              </a:rPr>
              <a:t>It removes the daily ups and downs</a:t>
            </a:r>
          </a:p>
          <a:p>
            <a:r>
              <a:rPr lang="en-US" b="1"/>
              <a:t>Best Model: Linear Forecast</a:t>
            </a:r>
            <a:endParaRPr lang="en-US" b="1">
              <a:solidFill>
                <a:srgbClr val="000000"/>
              </a:solidFill>
              <a:cs typeface="Arial"/>
            </a:endParaRPr>
          </a:p>
          <a:p>
            <a:endParaRPr lang="en-US"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F0C6D4-02DE-0349-3B53-5B0E8FD1DB0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434851" y="3421513"/>
            <a:ext cx="4290199" cy="27123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cs typeface="Arial"/>
              </a:rPr>
              <a:t>Daily:</a:t>
            </a:r>
            <a:endParaRPr lang="en-US" dirty="0"/>
          </a:p>
          <a:p>
            <a:pPr lvl="1"/>
            <a:r>
              <a:rPr lang="en-US" dirty="0">
                <a:cs typeface="Arial"/>
              </a:rPr>
              <a:t>The patterns repeat weekly</a:t>
            </a:r>
          </a:p>
          <a:p>
            <a:pPr lvl="1"/>
            <a:r>
              <a:rPr lang="en-US" dirty="0">
                <a:cs typeface="Arial"/>
              </a:rPr>
              <a:t>It shows every ups and downs</a:t>
            </a:r>
          </a:p>
          <a:p>
            <a:pPr lvl="1"/>
            <a:r>
              <a:rPr lang="en-US" b="1" dirty="0">
                <a:cs typeface="Arial"/>
              </a:rPr>
              <a:t>Best Model: SLR (Seasonality)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232BDC-58BE-5669-7C02-6227C42B53A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" name="Picture 2" descr="A black and grey calendar&#10;&#10;AI-generated content may be incorrect.">
            <a:extLst>
              <a:ext uri="{FF2B5EF4-FFF2-40B4-BE49-F238E27FC236}">
                <a16:creationId xmlns:a16="http://schemas.microsoft.com/office/drawing/2014/main" id="{2663DF5E-B51C-7192-1CAB-D5C9279D2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0000"/>
                    </a14:imgEffect>
                  </a14:imgLayer>
                </a14:imgProps>
              </a:ext>
            </a:extLst>
          </a:blip>
          <a:srcRect l="1492" t="5344" r="-746" b="-4580"/>
          <a:stretch>
            <a:fillRect/>
          </a:stretch>
        </p:blipFill>
        <p:spPr>
          <a:xfrm>
            <a:off x="1293512" y="1422908"/>
            <a:ext cx="1754940" cy="1711809"/>
          </a:xfrm>
          <a:prstGeom prst="rect">
            <a:avLst/>
          </a:prstGeom>
          <a:effectLst>
            <a:outerShdw blurRad="431800" dist="1193800" dir="10560000">
              <a:srgbClr val="000000">
                <a:alpha val="40000"/>
              </a:srgbClr>
            </a:outerShdw>
          </a:effectLst>
        </p:spPr>
      </p:pic>
      <p:pic>
        <p:nvPicPr>
          <p:cNvPr id="4" name="Picture 3" descr="A black clock with a white hand&#10;&#10;AI-generated content may be incorrect.">
            <a:extLst>
              <a:ext uri="{FF2B5EF4-FFF2-40B4-BE49-F238E27FC236}">
                <a16:creationId xmlns:a16="http://schemas.microsoft.com/office/drawing/2014/main" id="{936C7082-1E20-08B2-0AF9-82565EB304E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8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82951" y="1548440"/>
            <a:ext cx="2050213" cy="2050213"/>
          </a:xfrm>
          <a:prstGeom prst="rect">
            <a:avLst/>
          </a:prstGeom>
          <a:effectLst>
            <a:outerShdw blurRad="533400" dist="1371600" dir="1266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9614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E36B3-6688-F44F-0765-B9F7F44F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/>
          <a:p>
            <a:r>
              <a:rPr lang="en-US">
                <a:cs typeface="Arial"/>
              </a:rPr>
              <a:t>Daily Forecasting Models Comparison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C838E0C3-E1FB-2601-FF2D-68A84002F5D4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665875465"/>
              </p:ext>
            </p:extLst>
          </p:nvPr>
        </p:nvGraphicFramePr>
        <p:xfrm>
          <a:off x="838200" y="1825625"/>
          <a:ext cx="10302210" cy="4375686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060442">
                  <a:extLst>
                    <a:ext uri="{9D8B030D-6E8A-4147-A177-3AD203B41FA5}">
                      <a16:colId xmlns:a16="http://schemas.microsoft.com/office/drawing/2014/main" val="3909542061"/>
                    </a:ext>
                  </a:extLst>
                </a:gridCol>
                <a:gridCol w="2060442">
                  <a:extLst>
                    <a:ext uri="{9D8B030D-6E8A-4147-A177-3AD203B41FA5}">
                      <a16:colId xmlns:a16="http://schemas.microsoft.com/office/drawing/2014/main" val="43284066"/>
                    </a:ext>
                  </a:extLst>
                </a:gridCol>
                <a:gridCol w="2060442">
                  <a:extLst>
                    <a:ext uri="{9D8B030D-6E8A-4147-A177-3AD203B41FA5}">
                      <a16:colId xmlns:a16="http://schemas.microsoft.com/office/drawing/2014/main" val="3856532422"/>
                    </a:ext>
                  </a:extLst>
                </a:gridCol>
                <a:gridCol w="2060442">
                  <a:extLst>
                    <a:ext uri="{9D8B030D-6E8A-4147-A177-3AD203B41FA5}">
                      <a16:colId xmlns:a16="http://schemas.microsoft.com/office/drawing/2014/main" val="3438228390"/>
                    </a:ext>
                  </a:extLst>
                </a:gridCol>
                <a:gridCol w="2060442">
                  <a:extLst>
                    <a:ext uri="{9D8B030D-6E8A-4147-A177-3AD203B41FA5}">
                      <a16:colId xmlns:a16="http://schemas.microsoft.com/office/drawing/2014/main" val="3737151041"/>
                    </a:ext>
                  </a:extLst>
                </a:gridCol>
              </a:tblGrid>
              <a:tr h="72928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Models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MSE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MAPE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01482"/>
                  </a:ext>
                </a:extLst>
              </a:tr>
              <a:tr h="72928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Naïve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7.27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84.22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17.15%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82.5%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753144"/>
                  </a:ext>
                </a:extLst>
              </a:tr>
              <a:tr h="72928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Moving Avg</a:t>
                      </a:r>
                    </a:p>
                    <a:p>
                      <a:pPr lvl="0" algn="ctr">
                        <a:buNone/>
                      </a:pPr>
                      <a:r>
                        <a:rPr lang="en-US"/>
                        <a:t>(2 days)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6.55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66.46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16%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84%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96092"/>
                  </a:ext>
                </a:extLst>
              </a:tr>
              <a:tr h="72928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Exponential </a:t>
                      </a:r>
                    </a:p>
                    <a:p>
                      <a:pPr lvl="0" algn="ctr">
                        <a:buNone/>
                      </a:pPr>
                      <a:r>
                        <a:rPr lang="en-US"/>
                        <a:t>Smoothing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6.49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3.25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15.7%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84.3%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514058"/>
                  </a:ext>
                </a:extLst>
              </a:tr>
              <a:tr h="72928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Linear Forecast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/>
                        <a:t>(Trend)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6.31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65.91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14.5%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85.5%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206096"/>
                  </a:ext>
                </a:extLst>
              </a:tr>
              <a:tr h="72928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SLR with Seasonality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5.63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50.41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13.8%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86.2%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72570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A788F-A96A-BC1E-FBB1-D5901D496D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15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9670E-F325-3C11-FC2D-7D8226240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C6AD0-C56A-70F1-3A5B-70644DFB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/>
          <a:p>
            <a:r>
              <a:rPr lang="en-US">
                <a:cs typeface="Arial"/>
              </a:rPr>
              <a:t>Monthly Forecasting Models Comparison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877132B6-39D4-6EFA-836E-300EBF7FC832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8040379"/>
              </p:ext>
            </p:extLst>
          </p:nvPr>
        </p:nvGraphicFramePr>
        <p:xfrm>
          <a:off x="838200" y="1825625"/>
          <a:ext cx="10302210" cy="4375686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060442">
                  <a:extLst>
                    <a:ext uri="{9D8B030D-6E8A-4147-A177-3AD203B41FA5}">
                      <a16:colId xmlns:a16="http://schemas.microsoft.com/office/drawing/2014/main" val="3909542061"/>
                    </a:ext>
                  </a:extLst>
                </a:gridCol>
                <a:gridCol w="2060442">
                  <a:extLst>
                    <a:ext uri="{9D8B030D-6E8A-4147-A177-3AD203B41FA5}">
                      <a16:colId xmlns:a16="http://schemas.microsoft.com/office/drawing/2014/main" val="43284066"/>
                    </a:ext>
                  </a:extLst>
                </a:gridCol>
                <a:gridCol w="2060442">
                  <a:extLst>
                    <a:ext uri="{9D8B030D-6E8A-4147-A177-3AD203B41FA5}">
                      <a16:colId xmlns:a16="http://schemas.microsoft.com/office/drawing/2014/main" val="3856532422"/>
                    </a:ext>
                  </a:extLst>
                </a:gridCol>
                <a:gridCol w="2060442">
                  <a:extLst>
                    <a:ext uri="{9D8B030D-6E8A-4147-A177-3AD203B41FA5}">
                      <a16:colId xmlns:a16="http://schemas.microsoft.com/office/drawing/2014/main" val="3438228390"/>
                    </a:ext>
                  </a:extLst>
                </a:gridCol>
                <a:gridCol w="2060442">
                  <a:extLst>
                    <a:ext uri="{9D8B030D-6E8A-4147-A177-3AD203B41FA5}">
                      <a16:colId xmlns:a16="http://schemas.microsoft.com/office/drawing/2014/main" val="3737151041"/>
                    </a:ext>
                  </a:extLst>
                </a:gridCol>
              </a:tblGrid>
              <a:tr h="72928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Models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MSE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MAPE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01482"/>
                  </a:ext>
                </a:extLst>
              </a:tr>
              <a:tr h="72928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Naïve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49.18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3355.73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3.8%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96.2%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753144"/>
                  </a:ext>
                </a:extLst>
              </a:tr>
              <a:tr h="72928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Moving Avg</a:t>
                      </a:r>
                    </a:p>
                    <a:p>
                      <a:pPr lvl="0" algn="ctr">
                        <a:buNone/>
                      </a:pPr>
                      <a:r>
                        <a:rPr lang="en-US"/>
                        <a:t>(2 months)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49.95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3951.23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3.7%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96.3%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96092"/>
                  </a:ext>
                </a:extLst>
              </a:tr>
              <a:tr h="72928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Exponential </a:t>
                      </a:r>
                    </a:p>
                    <a:p>
                      <a:pPr lvl="0" algn="ctr">
                        <a:buNone/>
                      </a:pPr>
                      <a:r>
                        <a:rPr lang="en-US"/>
                        <a:t>Smoothing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49.66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3639.83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3.8%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96.2%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514058"/>
                  </a:ext>
                </a:extLst>
              </a:tr>
              <a:tr h="729281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Linear Forecast</a:t>
                      </a:r>
                      <a:endParaRPr lang="en-US" b="1">
                        <a:latin typeface="Arial"/>
                        <a:cs typeface="Arial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b="1"/>
                        <a:t>(Trend)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42.43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2637.60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3.3%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96.7%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206096"/>
                  </a:ext>
                </a:extLst>
              </a:tr>
              <a:tr h="72928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/>
                        <a:t>SLR with Seasonality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/>
                        <a:t>60.22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/>
                        <a:t>4786.22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/>
                        <a:t>4.7%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/>
                        <a:t>95.3%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72570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76A951-FC29-7F83-FF20-563095EECC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577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8EEFE-3603-56A9-02FC-A2488A187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257472" cy="1325563"/>
          </a:xfrm>
        </p:spPr>
        <p:txBody>
          <a:bodyPr>
            <a:normAutofit/>
          </a:bodyPr>
          <a:lstStyle/>
          <a:p>
            <a:r>
              <a:rPr lang="en-US" sz="4800"/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DA292-2DDD-FBBA-7845-3B181E433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852" y="2530115"/>
            <a:ext cx="4678975" cy="37984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/>
              <a:t>Daily or weekly Planning </a:t>
            </a:r>
            <a:endParaRPr lang="en-US" sz="2400" b="1">
              <a:cs typeface="Arial"/>
            </a:endParaRPr>
          </a:p>
          <a:p>
            <a:pPr marL="0" indent="0">
              <a:buNone/>
            </a:pPr>
            <a:r>
              <a:rPr lang="en-US" sz="2400" b="1">
                <a:cs typeface="Arial"/>
              </a:rPr>
              <a:t>Model:</a:t>
            </a:r>
            <a:r>
              <a:rPr lang="en-US" sz="2400">
                <a:cs typeface="Arial"/>
              </a:rPr>
              <a:t> Simple Linear Regression with Seasonality.</a:t>
            </a:r>
          </a:p>
          <a:p>
            <a:pPr marL="0" indent="0">
              <a:buNone/>
            </a:pPr>
            <a:r>
              <a:rPr lang="en-US" sz="2400">
                <a:cs typeface="Arial"/>
              </a:rPr>
              <a:t>It predicts short-term ups and downs based on pattern repetition.</a:t>
            </a:r>
          </a:p>
          <a:p>
            <a:pPr marL="0" indent="0">
              <a:buNone/>
            </a:pPr>
            <a:endParaRPr lang="en-US" b="1">
              <a:cs typeface="Arial"/>
            </a:endParaRPr>
          </a:p>
          <a:p>
            <a:endParaRPr lang="en-US"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B1359-DE2C-2BC6-174D-B7C0DB1F607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412173" y="2228191"/>
            <a:ext cx="4678975" cy="4100359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cs typeface="Arial"/>
              </a:rPr>
              <a:t>Monthly Planning</a:t>
            </a:r>
            <a:endParaRPr lang="en-US" sz="2400">
              <a:solidFill>
                <a:srgbClr val="000000"/>
              </a:solidFill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cs typeface="Arial"/>
              </a:rPr>
              <a:t>Model:</a:t>
            </a:r>
            <a:r>
              <a:rPr lang="en-US" sz="2400" dirty="0">
                <a:cs typeface="Arial"/>
              </a:rPr>
              <a:t> Linear Forecast (Trend)</a:t>
            </a:r>
          </a:p>
          <a:p>
            <a:pPr marL="0" indent="0">
              <a:buNone/>
            </a:pPr>
            <a:r>
              <a:rPr lang="en-US" sz="2400" dirty="0">
                <a:cs typeface="Arial"/>
              </a:rPr>
              <a:t>It shows the growth or decline over time.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7D425-ACCD-D8C2-7544-51EDA05C8F1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472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AAB1C8-4A29-D350-B7C4-3089C13BF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0675" y="382344"/>
            <a:ext cx="4377767" cy="2719337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pic>
        <p:nvPicPr>
          <p:cNvPr id="6" name="Picture Placeholder 5" descr="A black and white handshake&#10;&#10;AI-generated content may be incorrect.">
            <a:extLst>
              <a:ext uri="{FF2B5EF4-FFF2-40B4-BE49-F238E27FC236}">
                <a16:creationId xmlns:a16="http://schemas.microsoft.com/office/drawing/2014/main" id="{30452C6F-947C-89F5-F589-F6759321BB8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503" r="3503"/>
          <a:stretch/>
        </p:blipFill>
        <p:spPr>
          <a:xfrm>
            <a:off x="911745" y="1751759"/>
            <a:ext cx="5394960" cy="399732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8618F-D769-F666-B1AD-B03C82DA1B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029992" y="3340800"/>
            <a:ext cx="4368450" cy="3166331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/>
              <a:t>Martha Maxwell  </a:t>
            </a:r>
          </a:p>
          <a:p>
            <a:r>
              <a:rPr lang="en-US"/>
              <a:t>marthamaxwell02@gmail.com</a:t>
            </a:r>
            <a:endParaRPr lang="en-US">
              <a:cs typeface="Arial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293850"/>
      </p:ext>
    </p:extLst>
  </p:cSld>
  <p:clrMapOvr>
    <a:masterClrMapping/>
  </p:clrMapOvr>
</p:sld>
</file>

<file path=ppt/theme/theme1.xml><?xml version="1.0" encoding="utf-8"?>
<a:theme xmlns:a="http://schemas.openxmlformats.org/drawingml/2006/main" name="Madison">
  <a:themeElements>
    <a:clrScheme name="TM45439525">
      <a:dk1>
        <a:srgbClr val="000000"/>
      </a:dk1>
      <a:lt1>
        <a:srgbClr val="FFFFFF"/>
      </a:lt1>
      <a:dk2>
        <a:srgbClr val="1F2C28"/>
      </a:dk2>
      <a:lt2>
        <a:srgbClr val="E7E6E6"/>
      </a:lt2>
      <a:accent1>
        <a:srgbClr val="A1D58B"/>
      </a:accent1>
      <a:accent2>
        <a:srgbClr val="5EC795"/>
      </a:accent2>
      <a:accent3>
        <a:srgbClr val="4DADCE"/>
      </a:accent3>
      <a:accent4>
        <a:srgbClr val="CCB756"/>
      </a:accent4>
      <a:accent5>
        <a:srgbClr val="E29B35"/>
      </a:accent5>
      <a:accent6>
        <a:srgbClr val="8DC0C0"/>
      </a:accent6>
      <a:hlink>
        <a:srgbClr val="0563C1"/>
      </a:hlink>
      <a:folHlink>
        <a:srgbClr val="954F72"/>
      </a:folHlink>
    </a:clrScheme>
    <a:fontScheme name="Custom 11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525_Win32_SL_V10" id="{6D1E132C-EE58-410C-AA79-6634C21077D3}" vid="{B34F418C-A6AD-4EA0-82A8-449DB69F48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94F803-78B0-4743-862C-5C0CA5965124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4BD5B0D0-2713-4A58-8851-7057612DF074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2DFC609-3144-4451-A09C-1FEABE97DD6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Madison</vt:lpstr>
      <vt:lpstr>Optimizing Inventory with Data  Forecasting Analysis </vt:lpstr>
      <vt:lpstr>Agenda</vt:lpstr>
      <vt:lpstr>About NovaTech Store</vt:lpstr>
      <vt:lpstr>Goal</vt:lpstr>
      <vt:lpstr>Which models did we Test?</vt:lpstr>
      <vt:lpstr>Key  Findings</vt:lpstr>
      <vt:lpstr>Daily Sales:   SLR with Seasonality</vt:lpstr>
      <vt:lpstr>Monthly Sales:     Linear (Trend)</vt:lpstr>
      <vt:lpstr>Why the Difference?</vt:lpstr>
      <vt:lpstr>Daily Forecasting Models Comparison</vt:lpstr>
      <vt:lpstr>Monthly Forecasting Models Comparison</vt:lpstr>
      <vt:lpstr>Recommendation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16</cp:revision>
  <dcterms:created xsi:type="dcterms:W3CDTF">2026-03-05T14:56:43Z</dcterms:created>
  <dcterms:modified xsi:type="dcterms:W3CDTF">2026-03-06T01:13:54Z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